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51" autoAdjust="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2747-E738-40FA-A451-7F45EB4D088B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2B88-CC49-485A-A4BA-B134EE8AF7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0497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2747-E738-40FA-A451-7F45EB4D088B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2B88-CC49-485A-A4BA-B134EE8AF7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76612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2747-E738-40FA-A451-7F45EB4D088B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2B88-CC49-485A-A4BA-B134EE8AF7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490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2747-E738-40FA-A451-7F45EB4D088B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2B88-CC49-485A-A4BA-B134EE8AF7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748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2747-E738-40FA-A451-7F45EB4D088B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2B88-CC49-485A-A4BA-B134EE8AF7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998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2747-E738-40FA-A451-7F45EB4D088B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2B88-CC49-485A-A4BA-B134EE8AF7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383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2747-E738-40FA-A451-7F45EB4D088B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2B88-CC49-485A-A4BA-B134EE8AF7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4851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2747-E738-40FA-A451-7F45EB4D088B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2B88-CC49-485A-A4BA-B134EE8AF7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9667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2747-E738-40FA-A451-7F45EB4D088B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2B88-CC49-485A-A4BA-B134EE8AF7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7275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2747-E738-40FA-A451-7F45EB4D088B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2B88-CC49-485A-A4BA-B134EE8AF7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9517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2747-E738-40FA-A451-7F45EB4D088B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2B88-CC49-485A-A4BA-B134EE8AF7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034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2747-E738-40FA-A451-7F45EB4D088B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32B88-CC49-485A-A4BA-B134EE8AF7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7069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6502" y="58189"/>
            <a:ext cx="12045142" cy="532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6502" y="706582"/>
            <a:ext cx="12045142" cy="5470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C2747-E738-40FA-A451-7F45EB4D088B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32B88-CC49-485A-A4BA-B134EE8AF77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0" y="59020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84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/>
              <a:t>リアルタイム工事進捗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登録確認アプリケーション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smtClean="0"/>
              <a:t>2026/07/05 </a:t>
            </a:r>
            <a:r>
              <a:rPr lang="en-US" altLang="ja-JP" dirty="0"/>
              <a:t>HidetoshiNITTA931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699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 smtClean="0"/>
              <a:t>システム構成</a:t>
            </a:r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488" y="3435905"/>
            <a:ext cx="876422" cy="857370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2393477" y="3679924"/>
            <a:ext cx="1296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n>
                  <a:solidFill>
                    <a:schemeClr val="bg1"/>
                  </a:solidFill>
                </a:ln>
              </a:rPr>
              <a:t>Power Apps</a:t>
            </a:r>
            <a:endParaRPr kumimoji="1" lang="ja-JP" altLang="en-US" dirty="0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796" y="1079175"/>
            <a:ext cx="943107" cy="828791"/>
          </a:xfrm>
          <a:prstGeom prst="rect">
            <a:avLst/>
          </a:prstGeom>
        </p:spPr>
      </p:pic>
      <p:sp>
        <p:nvSpPr>
          <p:cNvPr id="9" name="テキスト ボックス 8"/>
          <p:cNvSpPr txBox="1"/>
          <p:nvPr/>
        </p:nvSpPr>
        <p:spPr>
          <a:xfrm>
            <a:off x="2252632" y="1308904"/>
            <a:ext cx="111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n>
                  <a:solidFill>
                    <a:schemeClr val="bg1"/>
                  </a:solidFill>
                </a:ln>
              </a:rPr>
              <a:t>Dataverse</a:t>
            </a:r>
            <a:endParaRPr kumimoji="1" lang="ja-JP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462644" y="1726844"/>
            <a:ext cx="2424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工事</a:t>
            </a:r>
            <a:r>
              <a:rPr lang="ja-JP" altLang="en-US" dirty="0" smtClean="0"/>
              <a:t>情報データベース</a:t>
            </a:r>
            <a:endParaRPr kumimoji="1" lang="en-US" altLang="ja-JP" dirty="0" smtClean="0"/>
          </a:p>
          <a:p>
            <a:r>
              <a:rPr lang="ja-JP" altLang="en-US" dirty="0" smtClean="0"/>
              <a:t>・工事進捗情報の保持</a:t>
            </a:r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2462645" y="4214128"/>
            <a:ext cx="23775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/>
              <a:t>登録確認アプリ</a:t>
            </a:r>
            <a:endParaRPr kumimoji="1" lang="en-US" altLang="ja-JP" dirty="0" smtClean="0"/>
          </a:p>
          <a:p>
            <a:r>
              <a:rPr lang="ja-JP" altLang="en-US" dirty="0" smtClean="0"/>
              <a:t>・データ表示、登録</a:t>
            </a:r>
            <a:endParaRPr lang="en-US" altLang="ja-JP" dirty="0" smtClean="0"/>
          </a:p>
          <a:p>
            <a:r>
              <a:rPr kumimoji="1" lang="ja-JP" altLang="en-US" dirty="0" smtClean="0"/>
              <a:t>・可視化</a:t>
            </a:r>
            <a:endParaRPr kumimoji="1" lang="en-US" altLang="ja-JP" dirty="0" smtClean="0"/>
          </a:p>
          <a:p>
            <a:r>
              <a:rPr lang="ja-JP" altLang="en-US" dirty="0" smtClean="0"/>
              <a:t>・フロー</a:t>
            </a:r>
            <a:endParaRPr kumimoji="1" lang="ja-JP" altLang="en-US" dirty="0"/>
          </a:p>
        </p:txBody>
      </p:sp>
      <p:pic>
        <p:nvPicPr>
          <p:cNvPr id="17" name="図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025" y="3476982"/>
            <a:ext cx="884375" cy="844972"/>
          </a:xfrm>
          <a:prstGeom prst="rect">
            <a:avLst/>
          </a:prstGeom>
        </p:spPr>
      </p:pic>
      <p:sp>
        <p:nvSpPr>
          <p:cNvPr id="18" name="テキスト ボックス 17"/>
          <p:cNvSpPr txBox="1"/>
          <p:nvPr/>
        </p:nvSpPr>
        <p:spPr>
          <a:xfrm>
            <a:off x="6419472" y="4321954"/>
            <a:ext cx="24625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帳票出力</a:t>
            </a:r>
            <a:r>
              <a:rPr kumimoji="1" lang="ja-JP" altLang="en-US" dirty="0" smtClean="0"/>
              <a:t>アプリ</a:t>
            </a:r>
            <a:endParaRPr kumimoji="1" lang="en-US" altLang="ja-JP" dirty="0" smtClean="0"/>
          </a:p>
          <a:p>
            <a:r>
              <a:rPr lang="ja-JP" altLang="en-US" dirty="0" smtClean="0"/>
              <a:t>・</a:t>
            </a:r>
            <a:r>
              <a:rPr lang="en-US" altLang="ja-JP" dirty="0" smtClean="0"/>
              <a:t>Markdown</a:t>
            </a:r>
            <a:r>
              <a:rPr lang="ja-JP" altLang="en-US" dirty="0" smtClean="0"/>
              <a:t>で帳票出力</a:t>
            </a:r>
            <a:endParaRPr kumimoji="1" lang="ja-JP" altLang="en-US" dirty="0"/>
          </a:p>
        </p:txBody>
      </p:sp>
      <p:pic>
        <p:nvPicPr>
          <p:cNvPr id="21" name="図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1356" y="3444732"/>
            <a:ext cx="1109695" cy="778364"/>
          </a:xfrm>
          <a:prstGeom prst="rect">
            <a:avLst/>
          </a:prstGeom>
        </p:spPr>
      </p:pic>
      <p:sp>
        <p:nvSpPr>
          <p:cNvPr id="22" name="テキスト ボックス 21"/>
          <p:cNvSpPr txBox="1"/>
          <p:nvPr/>
        </p:nvSpPr>
        <p:spPr>
          <a:xfrm>
            <a:off x="6311987" y="3735096"/>
            <a:ext cx="852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n>
                  <a:solidFill>
                    <a:schemeClr val="bg1"/>
                  </a:solidFill>
                </a:ln>
              </a:rPr>
              <a:t>Python</a:t>
            </a:r>
            <a:endParaRPr kumimoji="1" lang="ja-JP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7646103" y="3864590"/>
            <a:ext cx="1200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n>
                  <a:solidFill>
                    <a:schemeClr val="bg1"/>
                  </a:solidFill>
                </a:ln>
              </a:rPr>
              <a:t>Markdown</a:t>
            </a:r>
            <a:endParaRPr kumimoji="1" lang="ja-JP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4" name="角丸四角形 23"/>
          <p:cNvSpPr/>
          <p:nvPr/>
        </p:nvSpPr>
        <p:spPr>
          <a:xfrm>
            <a:off x="2187270" y="1079175"/>
            <a:ext cx="2971800" cy="151557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角丸四角形 24"/>
          <p:cNvSpPr/>
          <p:nvPr/>
        </p:nvSpPr>
        <p:spPr>
          <a:xfrm>
            <a:off x="2368572" y="3340090"/>
            <a:ext cx="2612491" cy="21059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角丸四角形 25"/>
          <p:cNvSpPr/>
          <p:nvPr/>
        </p:nvSpPr>
        <p:spPr>
          <a:xfrm>
            <a:off x="6240873" y="3353960"/>
            <a:ext cx="3035012" cy="166633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矢印コネクタ 27"/>
          <p:cNvCxnSpPr>
            <a:stCxn id="25" idx="0"/>
            <a:endCxn id="24" idx="2"/>
          </p:cNvCxnSpPr>
          <p:nvPr/>
        </p:nvCxnSpPr>
        <p:spPr>
          <a:xfrm flipH="1" flipV="1">
            <a:off x="3673170" y="2594753"/>
            <a:ext cx="1648" cy="7453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>
            <a:stCxn id="26" idx="0"/>
            <a:endCxn id="24" idx="3"/>
          </p:cNvCxnSpPr>
          <p:nvPr/>
        </p:nvCxnSpPr>
        <p:spPr>
          <a:xfrm flipH="1" flipV="1">
            <a:off x="5159070" y="1836964"/>
            <a:ext cx="2599309" cy="15169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テキスト ボックス 36"/>
          <p:cNvSpPr txBox="1"/>
          <p:nvPr/>
        </p:nvSpPr>
        <p:spPr>
          <a:xfrm>
            <a:off x="6556368" y="2421068"/>
            <a:ext cx="381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/>
              <a:t>PowerPlatform.Dataverse.client</a:t>
            </a:r>
            <a:r>
              <a:rPr lang="ja-JP" altLang="en-US" dirty="0" smtClean="0"/>
              <a:t>で接続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9566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 smtClean="0"/>
              <a:t>データベース設計</a:t>
            </a:r>
            <a:endParaRPr kumimoji="1" lang="ja-JP" altLang="en-US" dirty="0"/>
          </a:p>
        </p:txBody>
      </p:sp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652020"/>
              </p:ext>
            </p:extLst>
          </p:nvPr>
        </p:nvGraphicFramePr>
        <p:xfrm>
          <a:off x="7358605" y="911843"/>
          <a:ext cx="3482310" cy="883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847"/>
                <a:gridCol w="877738"/>
                <a:gridCol w="996162"/>
                <a:gridCol w="501563"/>
              </a:tblGrid>
              <a:tr h="223724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表示名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型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スキーマ名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必須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380331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プロジェクト</a:t>
                      </a:r>
                      <a:r>
                        <a:rPr kumimoji="1" lang="en-US" altLang="ja-JP" sz="1050" dirty="0" smtClean="0"/>
                        <a:t>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一意識別子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flash_projectId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3724"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Name(</a:t>
                      </a:r>
                      <a:r>
                        <a:rPr kumimoji="1" lang="ja-JP" altLang="en-US" sz="1050" dirty="0" smtClean="0"/>
                        <a:t>★</a:t>
                      </a:r>
                      <a:r>
                        <a:rPr kumimoji="1" lang="en-US" altLang="ja-JP" sz="1050" dirty="0" smtClean="0"/>
                        <a:t>)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string 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flash_Name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正方形/長方形 4"/>
          <p:cNvSpPr/>
          <p:nvPr/>
        </p:nvSpPr>
        <p:spPr>
          <a:xfrm>
            <a:off x="8956572" y="58189"/>
            <a:ext cx="1683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★</a:t>
            </a:r>
            <a:r>
              <a:rPr lang="en-US" altLang="ja-JP" dirty="0" smtClean="0"/>
              <a:t>)</a:t>
            </a:r>
            <a:r>
              <a:rPr lang="ja-JP" altLang="en-US" dirty="0" smtClean="0"/>
              <a:t>：プライマリ</a:t>
            </a:r>
            <a:endParaRPr lang="en-US" altLang="ja-JP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358605" y="702585"/>
            <a:ext cx="13372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dirty="0"/>
              <a:t>プロジェクトテーブル</a:t>
            </a:r>
            <a:endParaRPr kumimoji="1" lang="ja-JP" altLang="en-US" sz="1050" dirty="0"/>
          </a:p>
        </p:txBody>
      </p:sp>
      <p:graphicFrame>
        <p:nvGraphicFramePr>
          <p:cNvPr id="9" name="表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54870"/>
              </p:ext>
            </p:extLst>
          </p:nvPr>
        </p:nvGraphicFramePr>
        <p:xfrm>
          <a:off x="7358605" y="2012416"/>
          <a:ext cx="3754871" cy="1134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033"/>
                <a:gridCol w="870439"/>
                <a:gridCol w="1516578"/>
                <a:gridCol w="540821"/>
              </a:tblGrid>
              <a:tr h="223724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表示名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型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スキーマ名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必須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380331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拠点</a:t>
                      </a:r>
                      <a:r>
                        <a:rPr kumimoji="1" lang="en-US" altLang="ja-JP" sz="1050" dirty="0" smtClean="0"/>
                        <a:t>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一意識別子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flash_fieldId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3724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拠点名</a:t>
                      </a:r>
                      <a:r>
                        <a:rPr kumimoji="1" lang="en-US" altLang="ja-JP" sz="1050" dirty="0" smtClean="0"/>
                        <a:t>(</a:t>
                      </a:r>
                      <a:r>
                        <a:rPr kumimoji="1" lang="ja-JP" altLang="en-US" sz="1050" dirty="0" smtClean="0"/>
                        <a:t>★</a:t>
                      </a:r>
                      <a:r>
                        <a:rPr kumimoji="1" lang="en-US" altLang="ja-JP" sz="1050" dirty="0" smtClean="0"/>
                        <a:t>)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string 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flash_Name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3724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拠点番号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int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flash_field_number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テキスト ボックス 9"/>
          <p:cNvSpPr txBox="1"/>
          <p:nvPr/>
        </p:nvSpPr>
        <p:spPr>
          <a:xfrm>
            <a:off x="7358605" y="1834568"/>
            <a:ext cx="9557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dirty="0"/>
              <a:t>拠点テーブル</a:t>
            </a:r>
            <a:endParaRPr kumimoji="1" lang="ja-JP" altLang="en-US" sz="1050" dirty="0"/>
          </a:p>
        </p:txBody>
      </p:sp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663619"/>
              </p:ext>
            </p:extLst>
          </p:nvPr>
        </p:nvGraphicFramePr>
        <p:xfrm>
          <a:off x="7358606" y="3467587"/>
          <a:ext cx="4317579" cy="883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319"/>
                <a:gridCol w="916673"/>
                <a:gridCol w="1614048"/>
                <a:gridCol w="527539"/>
              </a:tblGrid>
              <a:tr h="223724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表示名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型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スキーマ名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必須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380331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工事カテゴリ</a:t>
                      </a:r>
                      <a:r>
                        <a:rPr kumimoji="1" lang="en-US" altLang="ja-JP" sz="1050" dirty="0" smtClean="0"/>
                        <a:t>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一意識別子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flash_kouji_categoriesId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3724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工事カテゴリ名</a:t>
                      </a:r>
                      <a:r>
                        <a:rPr kumimoji="1" lang="en-US" altLang="ja-JP" sz="1050" dirty="0" smtClean="0"/>
                        <a:t>(</a:t>
                      </a:r>
                      <a:r>
                        <a:rPr kumimoji="1" lang="ja-JP" altLang="en-US" sz="1050" dirty="0" smtClean="0"/>
                        <a:t>★</a:t>
                      </a:r>
                      <a:r>
                        <a:rPr kumimoji="1" lang="en-US" altLang="ja-JP" sz="1050" dirty="0" smtClean="0"/>
                        <a:t>)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string 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flash_Name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テキスト ボックス 11"/>
          <p:cNvSpPr txBox="1"/>
          <p:nvPr/>
        </p:nvSpPr>
        <p:spPr>
          <a:xfrm>
            <a:off x="7358605" y="3270373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dirty="0" smtClean="0"/>
              <a:t>工事カテゴリ</a:t>
            </a:r>
            <a:endParaRPr kumimoji="1" lang="ja-JP" altLang="en-US" sz="1050" dirty="0"/>
          </a:p>
        </p:txBody>
      </p:sp>
      <p:graphicFrame>
        <p:nvGraphicFramePr>
          <p:cNvPr id="13" name="表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710358"/>
              </p:ext>
            </p:extLst>
          </p:nvPr>
        </p:nvGraphicFramePr>
        <p:xfrm>
          <a:off x="7358605" y="4671298"/>
          <a:ext cx="362298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562"/>
                <a:gridCol w="913196"/>
                <a:gridCol w="1036404"/>
                <a:gridCol w="521825"/>
              </a:tblGrid>
              <a:tr h="223724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表示名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型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スキーマ名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必須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380331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工事状態</a:t>
                      </a:r>
                      <a:r>
                        <a:rPr kumimoji="1" lang="en-US" altLang="ja-JP" sz="1050" dirty="0" smtClean="0"/>
                        <a:t>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一意識別子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flash_kouji_categoriesId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3724"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Name(</a:t>
                      </a:r>
                      <a:r>
                        <a:rPr kumimoji="1" lang="ja-JP" altLang="en-US" sz="1050" dirty="0" smtClean="0"/>
                        <a:t>★</a:t>
                      </a:r>
                      <a:r>
                        <a:rPr kumimoji="1" lang="en-US" altLang="ja-JP" sz="1050" dirty="0" smtClean="0"/>
                        <a:t>)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string 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flash_Name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テキスト ボックス 13"/>
          <p:cNvSpPr txBox="1"/>
          <p:nvPr/>
        </p:nvSpPr>
        <p:spPr>
          <a:xfrm>
            <a:off x="7358605" y="443853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dirty="0" smtClean="0"/>
              <a:t>工事状態</a:t>
            </a:r>
            <a:endParaRPr kumimoji="1" lang="ja-JP" altLang="en-US" sz="1050" dirty="0"/>
          </a:p>
        </p:txBody>
      </p:sp>
      <p:graphicFrame>
        <p:nvGraphicFramePr>
          <p:cNvPr id="15" name="表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965580"/>
              </p:ext>
            </p:extLst>
          </p:nvPr>
        </p:nvGraphicFramePr>
        <p:xfrm>
          <a:off x="66500" y="957995"/>
          <a:ext cx="5727632" cy="5432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285"/>
                <a:gridCol w="975946"/>
                <a:gridCol w="1380392"/>
                <a:gridCol w="580292"/>
                <a:gridCol w="599251"/>
                <a:gridCol w="640466"/>
              </a:tblGrid>
              <a:tr h="501767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表示名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型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スキーマ名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必須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ユーザ入力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メイン画面表示順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310184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作業記録</a:t>
                      </a:r>
                      <a:r>
                        <a:rPr kumimoji="1" lang="en-US" altLang="ja-JP" sz="1050" dirty="0" smtClean="0"/>
                        <a:t>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 smtClean="0"/>
                        <a:t>一意識別子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flash_kouji_LogId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-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077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作業記録</a:t>
                      </a:r>
                      <a:r>
                        <a:rPr kumimoji="1" lang="en-US" altLang="ja-JP" sz="1050" dirty="0" err="1" smtClean="0"/>
                        <a:t>ID_name</a:t>
                      </a:r>
                      <a:r>
                        <a:rPr kumimoji="1" lang="en-US" altLang="ja-JP" sz="1050" dirty="0" smtClean="0"/>
                        <a:t>(</a:t>
                      </a:r>
                      <a:r>
                        <a:rPr kumimoji="1" lang="ja-JP" altLang="en-US" sz="1050" dirty="0" smtClean="0"/>
                        <a:t>★</a:t>
                      </a:r>
                      <a:r>
                        <a:rPr kumimoji="1" lang="en-US" altLang="ja-JP" sz="1050" dirty="0" smtClean="0"/>
                        <a:t>)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smtClean="0"/>
                        <a:t>Auto</a:t>
                      </a:r>
                      <a:r>
                        <a:rPr kumimoji="1" lang="en-US" altLang="ja-JP" sz="1050" baseline="0" dirty="0" smtClean="0"/>
                        <a:t> </a:t>
                      </a:r>
                      <a:r>
                        <a:rPr kumimoji="1" lang="en-US" altLang="ja-JP" sz="1050" baseline="0" dirty="0" err="1" smtClean="0"/>
                        <a:t>num</a:t>
                      </a:r>
                      <a:endParaRPr kumimoji="1" lang="ja-JP" altLang="en-US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flash_Name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-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077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工事名（</a:t>
                      </a:r>
                      <a:r>
                        <a:rPr kumimoji="1" lang="en-US" altLang="ja-JP" sz="1050" dirty="0" smtClean="0"/>
                        <a:t>PJ</a:t>
                      </a:r>
                      <a:r>
                        <a:rPr kumimoji="1" lang="ja-JP" altLang="en-US" sz="1050" dirty="0" smtClean="0"/>
                        <a:t>名）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 smtClean="0"/>
                        <a:t>参照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flash_project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 smtClean="0"/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11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077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拠点名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smtClean="0"/>
                        <a:t>string</a:t>
                      </a:r>
                      <a:endParaRPr kumimoji="1" lang="ja-JP" altLang="en-US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flash_place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1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077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拠点内の工事場所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smtClean="0"/>
                        <a:t>string</a:t>
                      </a:r>
                      <a:endParaRPr kumimoji="1" lang="ja-JP" altLang="en-US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flash_place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6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077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作業カテゴリ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参照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flash_categories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3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34333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ホスト名など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string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flash_something_info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4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077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アイテムステータス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参照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flash_status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2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077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工事予定日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 smtClean="0"/>
                        <a:t>日付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flash_due_date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5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077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工事実施日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 smtClean="0"/>
                        <a:t>日付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flash_done_date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7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077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寄りの写真</a:t>
                      </a:r>
                      <a:r>
                        <a:rPr kumimoji="1" lang="en-US" altLang="ja-JP" sz="1050" dirty="0" smtClean="0"/>
                        <a:t>(</a:t>
                      </a:r>
                      <a:r>
                        <a:rPr kumimoji="1" lang="ja-JP" altLang="en-US" sz="1050" dirty="0" smtClean="0"/>
                        <a:t>★</a:t>
                      </a:r>
                      <a:r>
                        <a:rPr kumimoji="1" lang="en-US" altLang="ja-JP" sz="1050" dirty="0" smtClean="0"/>
                        <a:t>)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smtClean="0"/>
                        <a:t>Image</a:t>
                      </a:r>
                      <a:endParaRPr kumimoji="1" lang="ja-JP" altLang="en-US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flash_close_photo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-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34333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引きの写真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smtClean="0"/>
                        <a:t>Image</a:t>
                      </a:r>
                      <a:endParaRPr kumimoji="1" lang="ja-JP" altLang="en-US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flash_distance_photo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-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077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寄り写真と引き写真あり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smtClean="0"/>
                        <a:t>bool</a:t>
                      </a:r>
                      <a:endParaRPr kumimoji="1" lang="ja-JP" altLang="en-US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flash_photo_ok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-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34333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その他の写真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Image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flash_othoer_photo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-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077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申し送り事項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 smtClean="0"/>
                        <a:t>string</a:t>
                      </a:r>
                      <a:endParaRPr kumimoji="1" lang="ja-JP" altLang="en-US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flash_comment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8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077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レビューコメント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string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flash_review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9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077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カスタム入力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string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err="1" smtClean="0"/>
                        <a:t>flash_custum_text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12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220778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作成日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日付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-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10</a:t>
                      </a:r>
                      <a:endParaRPr kumimoji="1" lang="ja-JP" altLang="en-US" sz="105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テキスト ボックス 15"/>
          <p:cNvSpPr txBox="1"/>
          <p:nvPr/>
        </p:nvSpPr>
        <p:spPr>
          <a:xfrm>
            <a:off x="169010" y="650354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dirty="0"/>
              <a:t>作業記録</a:t>
            </a:r>
            <a:endParaRPr kumimoji="1" lang="ja-JP" altLang="en-US" sz="1050" dirty="0"/>
          </a:p>
        </p:txBody>
      </p:sp>
      <p:cxnSp>
        <p:nvCxnSpPr>
          <p:cNvPr id="18" name="カギ線コネクタ 17"/>
          <p:cNvCxnSpPr>
            <a:stCxn id="20" idx="3"/>
            <a:endCxn id="4" idx="1"/>
          </p:cNvCxnSpPr>
          <p:nvPr/>
        </p:nvCxnSpPr>
        <p:spPr>
          <a:xfrm flipV="1">
            <a:off x="5794132" y="1353468"/>
            <a:ext cx="1564473" cy="8636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/>
          <p:cNvSpPr/>
          <p:nvPr/>
        </p:nvSpPr>
        <p:spPr>
          <a:xfrm>
            <a:off x="5148296" y="2095429"/>
            <a:ext cx="645836" cy="2433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/>
          <p:cNvSpPr/>
          <p:nvPr/>
        </p:nvSpPr>
        <p:spPr>
          <a:xfrm>
            <a:off x="5148296" y="2846857"/>
            <a:ext cx="645836" cy="2433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/>
          <p:cNvSpPr/>
          <p:nvPr/>
        </p:nvSpPr>
        <p:spPr>
          <a:xfrm>
            <a:off x="5148296" y="3430739"/>
            <a:ext cx="645836" cy="2433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カギ線コネクタ 26"/>
          <p:cNvCxnSpPr>
            <a:stCxn id="21" idx="3"/>
            <a:endCxn id="11" idx="1"/>
          </p:cNvCxnSpPr>
          <p:nvPr/>
        </p:nvCxnSpPr>
        <p:spPr>
          <a:xfrm>
            <a:off x="5794132" y="2968520"/>
            <a:ext cx="1564474" cy="9406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カギ線コネクタ 30"/>
          <p:cNvCxnSpPr>
            <a:stCxn id="34" idx="3"/>
            <a:endCxn id="9" idx="1"/>
          </p:cNvCxnSpPr>
          <p:nvPr/>
        </p:nvCxnSpPr>
        <p:spPr>
          <a:xfrm>
            <a:off x="5795112" y="2471143"/>
            <a:ext cx="1563493" cy="1086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正方形/長方形 33"/>
          <p:cNvSpPr/>
          <p:nvPr/>
        </p:nvSpPr>
        <p:spPr>
          <a:xfrm>
            <a:off x="5149276" y="2349480"/>
            <a:ext cx="645836" cy="2433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カギ線コネクタ 43"/>
          <p:cNvCxnSpPr>
            <a:stCxn id="22" idx="3"/>
            <a:endCxn id="13" idx="1"/>
          </p:cNvCxnSpPr>
          <p:nvPr/>
        </p:nvCxnSpPr>
        <p:spPr>
          <a:xfrm>
            <a:off x="5794132" y="3552402"/>
            <a:ext cx="1564473" cy="15760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55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 smtClean="0"/>
              <a:t>画面</a:t>
            </a:r>
            <a:r>
              <a:rPr lang="ja-JP" altLang="en-US" dirty="0"/>
              <a:t>設計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5077558" y="3788013"/>
            <a:ext cx="2690446" cy="694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ホーム画面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/>
        </p:nvSpPr>
        <p:spPr>
          <a:xfrm>
            <a:off x="9064869" y="3788749"/>
            <a:ext cx="2690446" cy="694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新規</a:t>
            </a:r>
            <a:r>
              <a:rPr lang="ja-JP" altLang="en-US" dirty="0" smtClean="0"/>
              <a:t>作成</a:t>
            </a:r>
            <a:r>
              <a:rPr lang="en-US" altLang="ja-JP" dirty="0" smtClean="0"/>
              <a:t>/</a:t>
            </a:r>
            <a:r>
              <a:rPr lang="ja-JP" altLang="en-US" dirty="0" smtClean="0"/>
              <a:t>更新</a:t>
            </a:r>
            <a:endParaRPr kumimoji="1" lang="ja-JP" altLang="en-US" dirty="0"/>
          </a:p>
        </p:txBody>
      </p:sp>
      <p:cxnSp>
        <p:nvCxnSpPr>
          <p:cNvPr id="13" name="直線矢印コネクタ 12"/>
          <p:cNvCxnSpPr>
            <a:stCxn id="5" idx="2"/>
            <a:endCxn id="17" idx="0"/>
          </p:cNvCxnSpPr>
          <p:nvPr/>
        </p:nvCxnSpPr>
        <p:spPr>
          <a:xfrm>
            <a:off x="6422781" y="4482605"/>
            <a:ext cx="0" cy="9963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グループ化 17"/>
          <p:cNvGrpSpPr/>
          <p:nvPr/>
        </p:nvGrpSpPr>
        <p:grpSpPr>
          <a:xfrm>
            <a:off x="4633546" y="5478962"/>
            <a:ext cx="3578470" cy="1220039"/>
            <a:chOff x="524863" y="2956307"/>
            <a:chExt cx="3578470" cy="1220039"/>
          </a:xfrm>
        </p:grpSpPr>
        <p:sp>
          <p:nvSpPr>
            <p:cNvPr id="6" name="正方形/長方形 5"/>
            <p:cNvSpPr/>
            <p:nvPr/>
          </p:nvSpPr>
          <p:spPr>
            <a:xfrm>
              <a:off x="2360734" y="3086093"/>
              <a:ext cx="1679331" cy="4440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拠点登録</a:t>
              </a:r>
              <a:endParaRPr kumimoji="1" lang="ja-JP" altLang="en-US" sz="1400" dirty="0"/>
            </a:p>
          </p:txBody>
        </p:sp>
        <p:sp>
          <p:nvSpPr>
            <p:cNvPr id="7" name="正方形/長方形 6"/>
            <p:cNvSpPr/>
            <p:nvPr/>
          </p:nvSpPr>
          <p:spPr>
            <a:xfrm>
              <a:off x="627184" y="3565277"/>
              <a:ext cx="1679331" cy="4440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工事</a:t>
              </a:r>
              <a:r>
                <a:rPr lang="ja-JP" altLang="en-US" sz="1400" dirty="0" smtClean="0"/>
                <a:t>カテゴリ登録</a:t>
              </a:r>
              <a:endParaRPr kumimoji="1" lang="ja-JP" altLang="en-US" sz="1400" dirty="0"/>
            </a:p>
          </p:txBody>
        </p:sp>
        <p:sp>
          <p:nvSpPr>
            <p:cNvPr id="8" name="正方形/長方形 7"/>
            <p:cNvSpPr/>
            <p:nvPr/>
          </p:nvSpPr>
          <p:spPr>
            <a:xfrm>
              <a:off x="627183" y="3081697"/>
              <a:ext cx="1679331" cy="4440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プロジェクト登録</a:t>
              </a:r>
              <a:endParaRPr kumimoji="1" lang="ja-JP" altLang="en-US" sz="1400" dirty="0"/>
            </a:p>
          </p:txBody>
        </p:sp>
        <p:sp>
          <p:nvSpPr>
            <p:cNvPr id="9" name="正方形/長方形 8"/>
            <p:cNvSpPr/>
            <p:nvPr/>
          </p:nvSpPr>
          <p:spPr>
            <a:xfrm>
              <a:off x="2360734" y="3565277"/>
              <a:ext cx="1679331" cy="4440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 dirty="0"/>
                <a:t>工事状態登録</a:t>
              </a:r>
              <a:endParaRPr kumimoji="1" lang="ja-JP" altLang="en-US" sz="1400" dirty="0"/>
            </a:p>
          </p:txBody>
        </p:sp>
        <p:sp>
          <p:nvSpPr>
            <p:cNvPr id="17" name="角丸四角形 16"/>
            <p:cNvSpPr/>
            <p:nvPr/>
          </p:nvSpPr>
          <p:spPr>
            <a:xfrm>
              <a:off x="524863" y="2956307"/>
              <a:ext cx="3578470" cy="122003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0" name="直線矢印コネクタ 19"/>
          <p:cNvCxnSpPr>
            <a:stCxn id="5" idx="3"/>
            <a:endCxn id="10" idx="1"/>
          </p:cNvCxnSpPr>
          <p:nvPr/>
        </p:nvCxnSpPr>
        <p:spPr>
          <a:xfrm>
            <a:off x="7768004" y="4135309"/>
            <a:ext cx="1296865" cy="7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図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5210" y="734175"/>
            <a:ext cx="876422" cy="857370"/>
          </a:xfrm>
          <a:prstGeom prst="rect">
            <a:avLst/>
          </a:prstGeom>
        </p:spPr>
      </p:pic>
      <p:sp>
        <p:nvSpPr>
          <p:cNvPr id="25" name="テキスト ボックス 24"/>
          <p:cNvSpPr txBox="1"/>
          <p:nvPr/>
        </p:nvSpPr>
        <p:spPr>
          <a:xfrm>
            <a:off x="10815199" y="978194"/>
            <a:ext cx="1296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n>
                  <a:solidFill>
                    <a:schemeClr val="bg1"/>
                  </a:solidFill>
                </a:ln>
              </a:rPr>
              <a:t>Power Apps</a:t>
            </a:r>
            <a:endParaRPr kumimoji="1" lang="ja-JP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6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46858" y="734175"/>
            <a:ext cx="12045142" cy="5470381"/>
          </a:xfrm>
        </p:spPr>
        <p:txBody>
          <a:bodyPr/>
          <a:lstStyle/>
          <a:p>
            <a:r>
              <a:rPr lang="ja-JP" altLang="en-US" dirty="0" smtClean="0"/>
              <a:t>登録確認アプリ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Power </a:t>
            </a:r>
            <a:r>
              <a:rPr lang="en-US" altLang="ja-JP" dirty="0"/>
              <a:t>Apps</a:t>
            </a:r>
            <a:r>
              <a:rPr lang="ja-JP" altLang="en-US" dirty="0"/>
              <a:t>のモデル駆動型</a:t>
            </a:r>
            <a:r>
              <a:rPr lang="ja-JP" altLang="en-US" dirty="0" smtClean="0"/>
              <a:t>アプリ仕様に</a:t>
            </a:r>
            <a:r>
              <a:rPr lang="ja-JP" altLang="en-US" dirty="0"/>
              <a:t>準拠</a:t>
            </a:r>
            <a:endParaRPr lang="en-US" altLang="ja-JP" dirty="0"/>
          </a:p>
          <a:p>
            <a:pPr lvl="1"/>
            <a:r>
              <a:rPr lang="ja-JP" altLang="en-US" dirty="0" smtClean="0"/>
              <a:t>ホーム画面表示、新規作成</a:t>
            </a:r>
            <a:r>
              <a:rPr lang="en-US" altLang="ja-JP" dirty="0" smtClean="0"/>
              <a:t>/</a:t>
            </a:r>
            <a:r>
              <a:rPr lang="ja-JP" altLang="en-US" dirty="0" smtClean="0"/>
              <a:t>更新画面の表示はデータベース設計に準拠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レスポンシブ画面にして、タブレットと</a:t>
            </a:r>
            <a:r>
              <a:rPr lang="en-US" altLang="ja-JP" dirty="0" smtClean="0"/>
              <a:t>PC</a:t>
            </a:r>
            <a:r>
              <a:rPr lang="ja-JP" altLang="en-US" dirty="0" smtClean="0"/>
              <a:t>両方で表示可にする</a:t>
            </a:r>
            <a:endParaRPr lang="ja-JP" altLang="en-US" dirty="0"/>
          </a:p>
          <a:p>
            <a:r>
              <a:rPr lang="ja-JP" altLang="en-US" dirty="0" smtClean="0"/>
              <a:t>帳票出力</a:t>
            </a:r>
            <a:r>
              <a:rPr lang="ja-JP" altLang="en-US" dirty="0"/>
              <a:t>アプリ</a:t>
            </a:r>
            <a:endParaRPr lang="en-US" altLang="ja-JP" dirty="0"/>
          </a:p>
          <a:p>
            <a:pPr lvl="1"/>
            <a:r>
              <a:rPr lang="ja-JP" altLang="en-US" dirty="0" smtClean="0"/>
              <a:t>コマンドライン実行型とする</a:t>
            </a:r>
            <a:endParaRPr lang="en-US" altLang="ja-JP" dirty="0" smtClean="0"/>
          </a:p>
        </p:txBody>
      </p:sp>
      <p:pic>
        <p:nvPicPr>
          <p:cNvPr id="27" name="図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865" y="1841971"/>
            <a:ext cx="884375" cy="844972"/>
          </a:xfrm>
          <a:prstGeom prst="rect">
            <a:avLst/>
          </a:prstGeom>
        </p:spPr>
      </p:pic>
      <p:sp>
        <p:nvSpPr>
          <p:cNvPr id="28" name="テキスト ボックス 27"/>
          <p:cNvSpPr txBox="1"/>
          <p:nvPr/>
        </p:nvSpPr>
        <p:spPr>
          <a:xfrm>
            <a:off x="11081827" y="2100085"/>
            <a:ext cx="852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n>
                  <a:solidFill>
                    <a:schemeClr val="bg1"/>
                  </a:solidFill>
                </a:ln>
              </a:rPr>
              <a:t>Python</a:t>
            </a:r>
            <a:endParaRPr kumimoji="1" lang="ja-JP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9" name="角丸四角形 28"/>
          <p:cNvSpPr/>
          <p:nvPr/>
        </p:nvSpPr>
        <p:spPr>
          <a:xfrm>
            <a:off x="4519246" y="3508131"/>
            <a:ext cx="7491046" cy="33498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4862821" y="3192753"/>
            <a:ext cx="2613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登録確認</a:t>
            </a:r>
            <a:r>
              <a:rPr lang="ja-JP" altLang="en-US" dirty="0" smtClean="0"/>
              <a:t>アプリ画面遷移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5007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 smtClean="0"/>
              <a:t>デプロイ方針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登録確認アプリ</a:t>
            </a:r>
            <a:endParaRPr kumimoji="1" lang="en-US" altLang="ja-JP" dirty="0" smtClean="0"/>
          </a:p>
          <a:p>
            <a:pPr lvl="1"/>
            <a:r>
              <a:rPr kumimoji="1" lang="en-US" altLang="ja-JP" dirty="0" smtClean="0"/>
              <a:t>Teams</a:t>
            </a:r>
            <a:r>
              <a:rPr kumimoji="1" lang="ja-JP" altLang="en-US" dirty="0" smtClean="0"/>
              <a:t>のチームに対して配布を行う</a:t>
            </a:r>
            <a:r>
              <a:rPr lang="ja-JP" altLang="en-US" dirty="0"/>
              <a:t>。</a:t>
            </a:r>
            <a:endParaRPr kumimoji="1" lang="en-US" altLang="ja-JP" dirty="0" smtClean="0"/>
          </a:p>
          <a:p>
            <a:pPr lvl="1"/>
            <a:r>
              <a:rPr kumimoji="1" lang="ja-JP" altLang="en-US" dirty="0" smtClean="0"/>
              <a:t>権限ごとの参照データの制限が難しいので、配布するごとに〇〇市版みたいな形で配布する</a:t>
            </a:r>
            <a:endParaRPr kumimoji="1" lang="en-US" altLang="ja-JP" dirty="0" smtClean="0"/>
          </a:p>
          <a:p>
            <a:r>
              <a:rPr lang="ja-JP" altLang="en-US" dirty="0" smtClean="0"/>
              <a:t>帳票出力アプリ</a:t>
            </a:r>
            <a:endParaRPr lang="en-US" altLang="ja-JP" dirty="0" smtClean="0"/>
          </a:p>
          <a:p>
            <a:pPr lvl="1"/>
            <a:r>
              <a:rPr kumimoji="1" lang="en-US" altLang="ja-JP" dirty="0" smtClean="0"/>
              <a:t>python</a:t>
            </a:r>
            <a:r>
              <a:rPr kumimoji="1" lang="ja-JP" altLang="en-US" dirty="0" smtClean="0"/>
              <a:t>実行環境を作ってもらう。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3233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入出力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6502" y="706582"/>
            <a:ext cx="12045142" cy="6028326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dirty="0" smtClean="0"/>
              <a:t>登録確認アプリ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Power Apps</a:t>
            </a:r>
            <a:r>
              <a:rPr lang="ja-JP" altLang="en-US" dirty="0" smtClean="0"/>
              <a:t>のモデル駆動型アプリ仕様に準拠</a:t>
            </a:r>
            <a:endParaRPr lang="en-US" altLang="ja-JP" dirty="0"/>
          </a:p>
          <a:p>
            <a:r>
              <a:rPr lang="ja-JP" altLang="en-US" dirty="0" smtClean="0"/>
              <a:t>帳票出力アプリ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入力</a:t>
            </a:r>
            <a:endParaRPr lang="en-US" altLang="ja-JP" dirty="0" smtClean="0"/>
          </a:p>
          <a:p>
            <a:pPr lvl="1"/>
            <a:endParaRPr lang="en-US" altLang="ja-JP" dirty="0"/>
          </a:p>
          <a:p>
            <a:pPr lvl="1"/>
            <a:endParaRPr lang="en-US" altLang="ja-JP" dirty="0" smtClean="0"/>
          </a:p>
          <a:p>
            <a:pPr lvl="1"/>
            <a:endParaRPr lang="en-US" altLang="ja-JP" dirty="0"/>
          </a:p>
          <a:p>
            <a:pPr lvl="1"/>
            <a:endParaRPr lang="en-US" altLang="ja-JP" dirty="0" smtClean="0"/>
          </a:p>
          <a:p>
            <a:pPr lvl="1"/>
            <a:endParaRPr lang="en-US" altLang="ja-JP" dirty="0" smtClean="0"/>
          </a:p>
          <a:p>
            <a:pPr lvl="1"/>
            <a:endParaRPr lang="en-US" altLang="ja-JP" dirty="0" smtClean="0"/>
          </a:p>
          <a:p>
            <a:pPr lvl="1"/>
            <a:endParaRPr lang="en-US" altLang="ja-JP" dirty="0"/>
          </a:p>
          <a:p>
            <a:pPr lvl="1"/>
            <a:endParaRPr lang="en-US" altLang="ja-JP" dirty="0" smtClean="0"/>
          </a:p>
          <a:p>
            <a:pPr lvl="1"/>
            <a:endParaRPr lang="en-US" altLang="ja-JP" dirty="0"/>
          </a:p>
          <a:p>
            <a:pPr lvl="1"/>
            <a:endParaRPr lang="en-US" altLang="ja-JP" dirty="0" smtClean="0"/>
          </a:p>
          <a:p>
            <a:pPr lvl="1"/>
            <a:r>
              <a:rPr lang="ja-JP" altLang="en-US" dirty="0" smtClean="0"/>
              <a:t>出力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Markdown</a:t>
            </a:r>
            <a:r>
              <a:rPr lang="ja-JP" altLang="en-US" dirty="0" smtClean="0"/>
              <a:t>形式で出力する。</a:t>
            </a:r>
            <a:endParaRPr lang="en-US" altLang="ja-JP" dirty="0" smtClean="0"/>
          </a:p>
          <a:p>
            <a:pPr lvl="2"/>
            <a:r>
              <a:rPr lang="ja-JP" altLang="en-US" dirty="0" smtClean="0"/>
              <a:t>データベース設計に基づき、データが一部未登録でも動的に表示する。</a:t>
            </a:r>
            <a:endParaRPr lang="en-US" altLang="ja-JP" dirty="0" smtClean="0"/>
          </a:p>
          <a:p>
            <a:endParaRPr kumimoji="1" lang="ja-JP" altLang="en-US" dirty="0"/>
          </a:p>
        </p:txBody>
      </p:sp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377620"/>
              </p:ext>
            </p:extLst>
          </p:nvPr>
        </p:nvGraphicFramePr>
        <p:xfrm>
          <a:off x="1513254" y="1964665"/>
          <a:ext cx="9459546" cy="326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676"/>
                <a:gridCol w="634427"/>
                <a:gridCol w="1186990"/>
                <a:gridCol w="5756453"/>
              </a:tblGrid>
              <a:tr h="199212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入力パラメタ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必須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指定方法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備考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199212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出力ファイル名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CLI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</a:tr>
              <a:tr h="199212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ファイルタイトル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CLI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/>
                    </a:p>
                  </a:txBody>
                  <a:tcPr/>
                </a:tc>
              </a:tr>
              <a:tr h="199212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トップテキスト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CLI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/>
                    </a:p>
                  </a:txBody>
                  <a:tcPr/>
                </a:tc>
              </a:tr>
              <a:tr h="1992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 smtClean="0"/>
                        <a:t>出力する工事名（</a:t>
                      </a:r>
                      <a:r>
                        <a:rPr kumimoji="1" lang="en-US" altLang="ja-JP" sz="1050" dirty="0" smtClean="0"/>
                        <a:t>PJ</a:t>
                      </a:r>
                      <a:r>
                        <a:rPr kumimoji="1" lang="ja-JP" altLang="en-US" sz="1050" dirty="0" smtClean="0"/>
                        <a:t>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CLI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/>
                    </a:p>
                  </a:txBody>
                  <a:tcPr/>
                </a:tc>
              </a:tr>
              <a:tr h="199212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出力する拠点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CLI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/>
                    </a:p>
                  </a:txBody>
                  <a:tcPr/>
                </a:tc>
              </a:tr>
              <a:tr h="199212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出力する作業カテゴリ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CLI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/>
                    </a:p>
                  </a:txBody>
                  <a:tcPr/>
                </a:tc>
              </a:tr>
              <a:tr h="199212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出力する日付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CLI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/>
                    </a:p>
                  </a:txBody>
                  <a:tcPr/>
                </a:tc>
              </a:tr>
              <a:tr h="199212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未工事を出力しない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CLI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未工事ステータスの物を出力しない</a:t>
                      </a:r>
                      <a:endParaRPr kumimoji="1" lang="ja-JP" altLang="en-US" sz="1050" dirty="0"/>
                    </a:p>
                  </a:txBody>
                  <a:tcPr/>
                </a:tc>
              </a:tr>
              <a:tr h="199212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申し送り事項を出力しない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 smtClean="0"/>
                        <a:t>×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050" dirty="0" smtClean="0"/>
                        <a:t>CLI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/>
                    </a:p>
                  </a:txBody>
                  <a:tcPr/>
                </a:tc>
              </a:tr>
              <a:tr h="199212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テーブルデータ名定義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設定ファイル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/>
                    </a:p>
                  </a:txBody>
                  <a:tcPr/>
                </a:tc>
              </a:tr>
              <a:tr h="199212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取得データ定義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 smtClean="0"/>
                        <a:t>設定ファイル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/>
                    </a:p>
                  </a:txBody>
                  <a:tcPr/>
                </a:tc>
              </a:tr>
              <a:tr h="199212"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表示する項目の定義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 smtClean="0"/>
                        <a:t>〇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 smtClean="0"/>
                        <a:t>設定ファイル</a:t>
                      </a:r>
                      <a:endParaRPr kumimoji="1" lang="ja-JP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05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40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532</Words>
  <Application>Microsoft Office PowerPoint</Application>
  <PresentationFormat>ワイド画面</PresentationFormat>
  <Paragraphs>270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ＭＳ Ｐゴシック</vt:lpstr>
      <vt:lpstr>Arial</vt:lpstr>
      <vt:lpstr>Calibri</vt:lpstr>
      <vt:lpstr>Calibri Light</vt:lpstr>
      <vt:lpstr>Office テーマ</vt:lpstr>
      <vt:lpstr>リアルタイム工事進捗 登録確認アプリケーション</vt:lpstr>
      <vt:lpstr>システム構成</vt:lpstr>
      <vt:lpstr>データベース設計</vt:lpstr>
      <vt:lpstr>画面設計</vt:lpstr>
      <vt:lpstr>デプロイ方針</vt:lpstr>
      <vt:lpstr>入出力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リアルタイム工事進捗 登録確認アプリケーション</dc:title>
  <dc:creator>Microsoft アカウント</dc:creator>
  <cp:lastModifiedBy>Microsoft アカウント</cp:lastModifiedBy>
  <cp:revision>18</cp:revision>
  <dcterms:created xsi:type="dcterms:W3CDTF">2026-07-05T06:15:17Z</dcterms:created>
  <dcterms:modified xsi:type="dcterms:W3CDTF">2026-07-05T10:19:26Z</dcterms:modified>
</cp:coreProperties>
</file>